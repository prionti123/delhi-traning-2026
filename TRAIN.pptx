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s : Ayantika Gangopadhyay,Prionti Majumder,Jayjeet Dutta biswas"/>
          <p:cNvSpPr txBox="1"/>
          <p:nvPr>
            <p:ph type="body" idx="21"/>
          </p:nvPr>
        </p:nvSpPr>
        <p:spPr>
          <a:xfrm>
            <a:off x="1201340" y="8535178"/>
            <a:ext cx="21971003" cy="396166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6500"/>
            </a:lvl1pPr>
          </a:lstStyle>
          <a:p>
            <a:pPr/>
            <a:r>
              <a:t>Authors : Ayantika Gangopadhyay,Prionti Majumder,Jayjeet Dutta biswas</a:t>
            </a:r>
          </a:p>
        </p:txBody>
      </p:sp>
      <p:sp>
        <p:nvSpPr>
          <p:cNvPr id="172" name="Lost &amp; Found Inside Train Coach"/>
          <p:cNvSpPr txBox="1"/>
          <p:nvPr>
            <p:ph type="ctrTitle"/>
          </p:nvPr>
        </p:nvSpPr>
        <p:spPr>
          <a:xfrm>
            <a:off x="1206496" y="1205783"/>
            <a:ext cx="21686693" cy="6339945"/>
          </a:xfrm>
          <a:prstGeom prst="rect">
            <a:avLst/>
          </a:prstGeom>
        </p:spPr>
        <p:txBody>
          <a:bodyPr/>
          <a:lstStyle>
            <a:lvl1pPr algn="ctr">
              <a:defRPr spc="-264" sz="13200"/>
            </a:lvl1pPr>
          </a:lstStyle>
          <a:p>
            <a:pPr/>
            <a:r>
              <a:t>Lost &amp; Found Inside Train Coach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ROBLEM STATEMENT"/>
          <p:cNvSpPr txBox="1"/>
          <p:nvPr>
            <p:ph type="title"/>
          </p:nvPr>
        </p:nvSpPr>
        <p:spPr>
          <a:xfrm>
            <a:off x="1206500" y="1079500"/>
            <a:ext cx="21971000" cy="190140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PROBLEM STATEMENT</a:t>
            </a:r>
          </a:p>
        </p:txBody>
      </p:sp>
      <p:sp>
        <p:nvSpPr>
          <p:cNvPr id="175" name="Passengers lose items inside moving train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096971">
              <a:spcBef>
                <a:spcPts val="3800"/>
              </a:spcBef>
              <a:buSzTx/>
              <a:buNone/>
              <a:defRPr b="1" sz="4128"/>
            </a:pPr>
            <a:r>
              <a:t>Passengers lose items inside moving trains.</a:t>
            </a:r>
          </a:p>
          <a:p>
            <a:pPr marL="0" indent="0" defTabSz="2096971">
              <a:spcBef>
                <a:spcPts val="3800"/>
              </a:spcBef>
              <a:buSzTx/>
              <a:buNone/>
              <a:defRPr b="1" sz="4128"/>
            </a:pPr>
            <a:r>
              <a:t>No precise location tracking</a:t>
            </a:r>
          </a:p>
          <a:p>
            <a:pPr marL="0" indent="0" defTabSz="2096971">
              <a:spcBef>
                <a:spcPts val="3800"/>
              </a:spcBef>
              <a:buSzTx/>
              <a:buNone/>
              <a:defRPr b="1" sz="4128"/>
            </a:pPr>
            <a:r>
              <a:t>	•	Train keeps moving → difficult to identify where item was lost</a:t>
            </a:r>
          </a:p>
          <a:p>
            <a:pPr marL="0" indent="0" defTabSz="2096971">
              <a:spcBef>
                <a:spcPts val="3800"/>
              </a:spcBef>
              <a:buSzTx/>
              <a:buNone/>
              <a:defRPr b="1" sz="4128"/>
            </a:pPr>
            <a:r>
              <a:t>	•	No coach-level location data</a:t>
            </a:r>
          </a:p>
          <a:p>
            <a:pPr marL="0" indent="0" defTabSz="2096971">
              <a:spcBef>
                <a:spcPts val="3800"/>
              </a:spcBef>
              <a:buSzTx/>
              <a:buNone/>
              <a:defRPr b="1" sz="4128"/>
            </a:pPr>
            <a:r>
              <a:t>	•	No real-time map visualization</a:t>
            </a:r>
          </a:p>
          <a:p>
            <a:pPr marL="0" indent="0" defTabSz="2096971">
              <a:spcBef>
                <a:spcPts val="3800"/>
              </a:spcBef>
              <a:buSzTx/>
              <a:buNone/>
              <a:defRPr b="1" sz="4128"/>
            </a:pPr>
          </a:p>
          <a:p>
            <a:pPr marL="0" indent="0" defTabSz="2096971">
              <a:spcBef>
                <a:spcPts val="3800"/>
              </a:spcBef>
              <a:buSzTx/>
              <a:buNone/>
              <a:defRPr b="1" sz="4128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ROPOSED SMART SOLUTION"/>
          <p:cNvSpPr txBox="1"/>
          <p:nvPr>
            <p:ph type="title"/>
          </p:nvPr>
        </p:nvSpPr>
        <p:spPr>
          <a:xfrm>
            <a:off x="1206500" y="1079500"/>
            <a:ext cx="21971000" cy="3813514"/>
          </a:xfrm>
          <a:prstGeom prst="rect">
            <a:avLst/>
          </a:prstGeom>
        </p:spPr>
        <p:txBody>
          <a:bodyPr/>
          <a:lstStyle>
            <a:lvl1pPr algn="ctr">
              <a:defRPr spc="-174" sz="8700"/>
            </a:lvl1pPr>
          </a:lstStyle>
          <a:p>
            <a:pPr/>
            <a:r>
              <a:t>PROPOSED SMART SOLUTION</a:t>
            </a:r>
          </a:p>
        </p:txBody>
      </p:sp>
      <p:sp>
        <p:nvSpPr>
          <p:cNvPr id="178" name="Each coach has:…"/>
          <p:cNvSpPr txBox="1"/>
          <p:nvPr>
            <p:ph type="body" idx="1"/>
          </p:nvPr>
        </p:nvSpPr>
        <p:spPr>
          <a:xfrm>
            <a:off x="1206500" y="3251302"/>
            <a:ext cx="21971000" cy="9253214"/>
          </a:xfrm>
          <a:prstGeom prst="rect">
            <a:avLst/>
          </a:prstGeom>
        </p:spPr>
        <p:txBody>
          <a:bodyPr/>
          <a:lstStyle/>
          <a:p>
            <a:pPr marL="0" indent="0" defTabSz="975335">
              <a:spcBef>
                <a:spcPts val="1800"/>
              </a:spcBef>
              <a:buSzTx/>
              <a:buNone/>
              <a:defRPr b="1" sz="4760"/>
            </a:pPr>
            <a:r>
              <a:t>Each coach has:</a:t>
            </a:r>
          </a:p>
          <a:p>
            <a:pPr marL="243839" indent="-243839" defTabSz="975335">
              <a:spcBef>
                <a:spcPts val="1800"/>
              </a:spcBef>
              <a:defRPr sz="3640"/>
            </a:pPr>
            <a:r>
              <a:t>Low-cost GPS module</a:t>
            </a:r>
          </a:p>
          <a:p>
            <a:pPr marL="243839" indent="-243839" defTabSz="975335">
              <a:spcBef>
                <a:spcPts val="1800"/>
              </a:spcBef>
              <a:defRPr sz="3640"/>
            </a:pPr>
            <a:r>
              <a:t>QR code for reporting</a:t>
            </a:r>
          </a:p>
          <a:p>
            <a:pPr marL="243839" indent="-243839" defTabSz="975335">
              <a:spcBef>
                <a:spcPts val="1800"/>
              </a:spcBef>
              <a:defRPr sz="3640"/>
            </a:pPr>
            <a:r>
              <a:t>Offline map stored in app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  <a:r>
              <a:t>When passenger reports item: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b="1" sz="4760"/>
            </a:pPr>
            <a:r>
              <a:t>System captures: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  <a:r>
              <a:t>•Coach number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  <a:r>
              <a:t>•Seat number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  <a:r>
              <a:t>•Real-time GPS coordinates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  <a:r>
              <a:t>•Timestamp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  <a:r>
              <a:t>•Location stored in database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  <a:r>
              <a:t>•Even if internet disconnects → offline data saved &amp; synced later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</a:p>
          <a:p>
            <a:pPr marL="0" indent="0" defTabSz="975335">
              <a:spcBef>
                <a:spcPts val="1800"/>
              </a:spcBef>
              <a:buSzTx/>
              <a:buNone/>
              <a:defRPr sz="3640"/>
            </a:pPr>
          </a:p>
        </p:txBody>
      </p:sp>
      <p:pic>
        <p:nvPicPr>
          <p:cNvPr id="179" name="operation-amanat-1-scaled.jpg" descr="operation-amanat-1-scaled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80119" y="3336870"/>
            <a:ext cx="10563390" cy="70422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S-IS VS TO-BE PROCESS MAP"/>
          <p:cNvSpPr txBox="1"/>
          <p:nvPr>
            <p:ph type="title"/>
          </p:nvPr>
        </p:nvSpPr>
        <p:spPr>
          <a:xfrm>
            <a:off x="1206500" y="1079500"/>
            <a:ext cx="21971000" cy="2212882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AS-IS VS TO-BE PROCESS MAP</a:t>
            </a:r>
          </a:p>
        </p:txBody>
      </p:sp>
      <p:sp>
        <p:nvSpPr>
          <p:cNvPr id="182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</a:p>
        </p:txBody>
      </p:sp>
      <p:graphicFrame>
        <p:nvGraphicFramePr>
          <p:cNvPr id="183" name="Table 1"/>
          <p:cNvGraphicFramePr/>
          <p:nvPr/>
        </p:nvGraphicFramePr>
        <p:xfrm>
          <a:off x="1771865" y="5506277"/>
          <a:ext cx="21026488" cy="636611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466497"/>
                <a:gridCol w="8082755"/>
                <a:gridCol w="9464535"/>
              </a:tblGrid>
              <a:tr h="1270683">
                <a:tc>
                  <a:txBody>
                    <a:bodyPr/>
                    <a:lstStyle/>
                    <a:p>
                      <a:pPr algn="l" defTabSz="457200"/>
                      <a:r>
                        <a:rPr b="1" sz="35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Feature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35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As-Is (Current)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35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To-Be (Proposed)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70683">
                <a:tc>
                  <a:txBody>
                    <a:bodyPr/>
                    <a:lstStyle/>
                    <a:p>
                      <a:pPr algn="l" defTabSz="457200"/>
                      <a:r>
                        <a:rPr b="1" sz="35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Reporting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Physical visit or phone calls.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Instant report via App/QR code on seat.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70683">
                <a:tc>
                  <a:txBody>
                    <a:bodyPr/>
                    <a:lstStyle/>
                    <a:p>
                      <a:pPr algn="l" defTabSz="457200"/>
                      <a:r>
                        <a:rPr b="1" sz="35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Tracking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Manual ledger entries/Paperwork.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Centralized Cloud Database.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70683">
                <a:tc>
                  <a:txBody>
                    <a:bodyPr/>
                    <a:lstStyle/>
                    <a:p>
                      <a:pPr algn="l" defTabSz="457200"/>
                      <a:r>
                        <a:rPr b="1" sz="35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Identification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Vague descriptions.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Image-based AI matching.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70683">
                <a:tc>
                  <a:txBody>
                    <a:bodyPr/>
                    <a:lstStyle/>
                    <a:p>
                      <a:pPr algn="l" defTabSz="457200"/>
                      <a:r>
                        <a:rPr b="1" sz="35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Return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Must return to the specific station.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30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Option for "Courier-to-Home" (Paid).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FFLINE MAP CONCEPT"/>
          <p:cNvSpPr txBox="1"/>
          <p:nvPr>
            <p:ph type="title"/>
          </p:nvPr>
        </p:nvSpPr>
        <p:spPr>
          <a:xfrm>
            <a:off x="1206500" y="1079500"/>
            <a:ext cx="21971000" cy="3364696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OFFLINE MAP CONCEPT</a:t>
            </a:r>
          </a:p>
        </p:txBody>
      </p:sp>
      <p:sp>
        <p:nvSpPr>
          <p:cNvPr id="186" name="Just like Google Maps offline download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975335">
              <a:spcBef>
                <a:spcPts val="1800"/>
              </a:spcBef>
              <a:buSzTx/>
              <a:buNone/>
              <a:defRPr sz="3800"/>
            </a:pPr>
            <a:r>
              <a:rPr b="1"/>
              <a:t>Just like Google Maps offline download</a:t>
            </a:r>
            <a:r>
              <a:t>: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  <a:r>
              <a:t>Passenger downloads train route map before journey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  <a:r>
              <a:t>	•App stores: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  <a:r>
              <a:t>	•Train route path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  <a:r>
              <a:t>	•Station coordinates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  <a:r>
              <a:t>	•During journey: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  <a:r>
              <a:t>	•GPS works without internet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  <a:r>
              <a:t>	•Data syncs when network available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b="1" sz="3880"/>
            </a:pPr>
            <a:r>
              <a:t>This avoids:</a:t>
            </a:r>
          </a:p>
          <a:p>
            <a:pPr marL="147319" indent="-147319" defTabSz="975335">
              <a:spcBef>
                <a:spcPts val="1800"/>
              </a:spcBef>
              <a:defRPr sz="3480"/>
            </a:pPr>
            <a:r>
              <a:t>                               Network dependency in tunnels</a:t>
            </a:r>
          </a:p>
          <a:p>
            <a:pPr marL="147319" indent="-147319" defTabSz="975335">
              <a:spcBef>
                <a:spcPts val="1800"/>
              </a:spcBef>
              <a:defRPr sz="3480"/>
            </a:pPr>
            <a:r>
              <a:t>                                Rural area connectivity issues</a:t>
            </a: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</a:p>
          <a:p>
            <a:pPr marL="0" indent="0" defTabSz="975335">
              <a:spcBef>
                <a:spcPts val="1800"/>
              </a:spcBef>
              <a:buSzTx/>
              <a:buNone/>
              <a:defRPr sz="3480"/>
            </a:pPr>
          </a:p>
        </p:txBody>
      </p:sp>
      <p:pic>
        <p:nvPicPr>
          <p:cNvPr id="187" name="Gemini_Generated_Image_ilcmziilcmziilcm.png" descr="Gemini_Generated_Image_ilcmziilcmziilc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074097" y="4930924"/>
            <a:ext cx="6891172" cy="68911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FLOWCHART (GPS Version)"/>
          <p:cNvSpPr txBox="1"/>
          <p:nvPr>
            <p:ph type="title"/>
          </p:nvPr>
        </p:nvSpPr>
        <p:spPr>
          <a:xfrm>
            <a:off x="999270" y="181505"/>
            <a:ext cx="12244438" cy="1433164"/>
          </a:xfrm>
          <a:prstGeom prst="rect">
            <a:avLst/>
          </a:prstGeom>
        </p:spPr>
        <p:txBody>
          <a:bodyPr/>
          <a:lstStyle>
            <a:lvl1pPr algn="ctr" defTabSz="2145738">
              <a:defRPr spc="-149" sz="7480"/>
            </a:lvl1pPr>
          </a:lstStyle>
          <a:p>
            <a:pPr/>
            <a:r>
              <a:t>FLOWCHART (GPS Version)</a:t>
            </a:r>
          </a:p>
        </p:txBody>
      </p:sp>
      <p:sp>
        <p:nvSpPr>
          <p:cNvPr id="190" name="Initialization: The process begins by scanning a QR code, which allows the app to automatically fetch the specific Coach ID.…"/>
          <p:cNvSpPr txBox="1"/>
          <p:nvPr>
            <p:ph type="body" sz="half" idx="1"/>
          </p:nvPr>
        </p:nvSpPr>
        <p:spPr>
          <a:xfrm>
            <a:off x="497116" y="2557479"/>
            <a:ext cx="10389807" cy="9947037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sz="3400"/>
              <a:t>Initialization: </a:t>
            </a:r>
            <a:r>
              <a:rPr sz="3400"/>
              <a:t>The process begins by </a:t>
            </a:r>
            <a:r>
              <a:rPr b="1" sz="3400"/>
              <a:t>scanning a QR code</a:t>
            </a:r>
            <a:r>
              <a:rPr sz="3400"/>
              <a:t>, which allows the app to automatically fetch the specific </a:t>
            </a:r>
            <a:r>
              <a:rPr b="1" sz="3400"/>
              <a:t>Coach ID</a:t>
            </a:r>
            <a:r>
              <a:rPr sz="3400"/>
              <a:t>.</a:t>
            </a:r>
            <a:endParaRPr sz="3400"/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Collection:</a:t>
            </a:r>
            <a:r>
              <a:t> The system captures the current </a:t>
            </a:r>
            <a:r>
              <a:rPr b="1"/>
              <a:t>GPS location</a:t>
            </a:r>
            <a:r>
              <a:t> and prompts the user to manually </a:t>
            </a:r>
            <a:r>
              <a:rPr b="1"/>
              <a:t>enter item details</a:t>
            </a:r>
            <a:r>
              <a:t>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Connectivity Check:</a:t>
            </a:r>
            <a:r>
              <a:t> A decision point determines if the internet is available; if not, the data is </a:t>
            </a:r>
            <a:r>
              <a:rPr b="1"/>
              <a:t>saved offline</a:t>
            </a:r>
            <a:r>
              <a:t> to the device.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Synchronization:</a:t>
            </a:r>
            <a:r>
              <a:t> Once a connection is established, the saved information is </a:t>
            </a:r>
            <a:r>
              <a:rPr b="1"/>
              <a:t>synced to the server</a:t>
            </a:r>
            <a:r>
              <a:t> to ensure record accuracy.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Communication:</a:t>
            </a:r>
            <a:r>
              <a:t> Upon successful sync, the system </a:t>
            </a:r>
            <a:r>
              <a:rPr b="1"/>
              <a:t>notifies the staff</a:t>
            </a:r>
            <a:r>
              <a:t> members responsible for the luggage.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Finalization:</a:t>
            </a:r>
            <a:r>
              <a:t> The item’s </a:t>
            </a:r>
            <a:r>
              <a:rPr b="1"/>
              <a:t>status is updated</a:t>
            </a:r>
            <a:r>
              <a:t> in the database, and the tracking workflow concludes.</a:t>
            </a:r>
          </a:p>
        </p:txBody>
      </p:sp>
      <p:pic>
        <p:nvPicPr>
          <p:cNvPr id="191" name="Gemini_Generated_Image_rj8y3hrj8y3hrj8y.png" descr="Gemini_Generated_Image_rj8y3hrj8y3hrj8y.png"/>
          <p:cNvPicPr>
            <a:picLocks noChangeAspect="1"/>
          </p:cNvPicPr>
          <p:nvPr/>
        </p:nvPicPr>
        <p:blipFill>
          <a:blip r:embed="rId2">
            <a:extLst/>
          </a:blip>
          <a:srcRect l="6703" t="0" r="6703" b="7708"/>
          <a:stretch>
            <a:fillRect/>
          </a:stretch>
        </p:blipFill>
        <p:spPr>
          <a:xfrm>
            <a:off x="13083813" y="942113"/>
            <a:ext cx="11236990" cy="119766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UNITED MODELING LANGUAGE"/>
          <p:cNvSpPr txBox="1"/>
          <p:nvPr>
            <p:ph type="title"/>
          </p:nvPr>
        </p:nvSpPr>
        <p:spPr>
          <a:xfrm>
            <a:off x="1206500" y="1079500"/>
            <a:ext cx="21971000" cy="1943232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UNITED MODELING LANGUAGE</a:t>
            </a:r>
          </a:p>
        </p:txBody>
      </p:sp>
      <p:sp>
        <p:nvSpPr>
          <p:cNvPr id="194" name="Relationship Summary:…"/>
          <p:cNvSpPr txBox="1"/>
          <p:nvPr>
            <p:ph type="body" sz="half" idx="1"/>
          </p:nvPr>
        </p:nvSpPr>
        <p:spPr>
          <a:xfrm>
            <a:off x="344033" y="4248504"/>
            <a:ext cx="10027603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sz="5500"/>
            </a:pPr>
            <a:r>
              <a:t>Relationship Summary:</a:t>
            </a:r>
          </a:p>
          <a:p>
            <a:pPr/>
            <a:r>
              <a:t>One User → many Complaints</a:t>
            </a:r>
          </a:p>
          <a:p>
            <a:pPr/>
            <a:r>
              <a:t>One Complaint → one Location</a:t>
            </a:r>
          </a:p>
          <a:p>
            <a:pPr/>
            <a:r>
              <a:t>Many Complaints → one Coach</a:t>
            </a:r>
          </a:p>
          <a:p>
            <a:pPr/>
            <a:r>
              <a:t>One Coach → one GPSModule</a:t>
            </a:r>
          </a:p>
          <a:p>
            <a:pPr/>
            <a:r>
              <a:t>One TrainRoute → stored in App</a:t>
            </a:r>
          </a:p>
        </p:txBody>
      </p:sp>
      <p:pic>
        <p:nvPicPr>
          <p:cNvPr id="195" name="WhatsApp Image 2026-02-16 at 15.30.25.jpeg" descr="WhatsApp Image 2026-02-16 at 15.30.25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95722" y="3924091"/>
            <a:ext cx="12866300" cy="85775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BUDGET CONTRO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BUDGET CONTROL</a:t>
            </a:r>
          </a:p>
        </p:txBody>
      </p:sp>
      <p:sp>
        <p:nvSpPr>
          <p:cNvPr id="198" name="Instead of expensive hardware:…"/>
          <p:cNvSpPr txBox="1"/>
          <p:nvPr>
            <p:ph type="body" idx="1"/>
          </p:nvPr>
        </p:nvSpPr>
        <p:spPr>
          <a:xfrm>
            <a:off x="1206500" y="4248504"/>
            <a:ext cx="16557401" cy="8256012"/>
          </a:xfrm>
          <a:prstGeom prst="rect">
            <a:avLst/>
          </a:prstGeom>
        </p:spPr>
        <p:txBody>
          <a:bodyPr/>
          <a:lstStyle/>
          <a:p>
            <a:pPr marL="0" indent="0" defTabSz="1341086">
              <a:spcBef>
                <a:spcPts val="2400"/>
              </a:spcBef>
              <a:buSzTx/>
              <a:buNone/>
              <a:defRPr b="1" sz="4180"/>
            </a:pPr>
            <a:r>
              <a:t>Instead of expensive hardware:</a:t>
            </a:r>
          </a:p>
          <a:p>
            <a:pPr marL="0" indent="0" defTabSz="1341086">
              <a:spcBef>
                <a:spcPts val="2400"/>
              </a:spcBef>
              <a:buSzTx/>
              <a:buNone/>
              <a:defRPr b="1" i="1" sz="4015"/>
            </a:pPr>
            <a:r>
              <a:t>Option A (Low Budget):</a:t>
            </a:r>
          </a:p>
          <a:p>
            <a:pPr marL="0" indent="0" defTabSz="1341086">
              <a:spcBef>
                <a:spcPts val="2400"/>
              </a:spcBef>
              <a:buSzTx/>
              <a:buNone/>
              <a:defRPr sz="4015"/>
            </a:pPr>
            <a:r>
              <a:t>	•Use passenger mobile GPS only</a:t>
            </a:r>
          </a:p>
          <a:p>
            <a:pPr marL="0" indent="0" defTabSz="1341086">
              <a:spcBef>
                <a:spcPts val="2400"/>
              </a:spcBef>
              <a:buSzTx/>
              <a:buNone/>
              <a:defRPr sz="4015"/>
            </a:pPr>
            <a:r>
              <a:t>	No extra hardware</a:t>
            </a:r>
          </a:p>
          <a:p>
            <a:pPr marL="0" indent="0" defTabSz="1341086">
              <a:spcBef>
                <a:spcPts val="2400"/>
              </a:spcBef>
              <a:buSzTx/>
              <a:buNone/>
              <a:defRPr sz="4015"/>
            </a:pPr>
            <a:r>
              <a:t>	•Just QR code stickers in coach</a:t>
            </a:r>
          </a:p>
          <a:p>
            <a:pPr marL="0" indent="0" defTabSz="1341086">
              <a:spcBef>
                <a:spcPts val="2400"/>
              </a:spcBef>
              <a:buSzTx/>
              <a:buNone/>
              <a:defRPr sz="4015"/>
            </a:pPr>
          </a:p>
          <a:p>
            <a:pPr marL="0" indent="0" defTabSz="1341086">
              <a:spcBef>
                <a:spcPts val="2400"/>
              </a:spcBef>
              <a:buSzTx/>
              <a:buNone/>
              <a:defRPr b="1" i="1" sz="4015"/>
            </a:pPr>
            <a:r>
              <a:t>Option B (Advanced):</a:t>
            </a:r>
          </a:p>
          <a:p>
            <a:pPr marL="0" indent="0" defTabSz="1341086">
              <a:spcBef>
                <a:spcPts val="2400"/>
              </a:spcBef>
              <a:buSzTx/>
              <a:buNone/>
              <a:defRPr sz="4015"/>
            </a:pPr>
            <a:r>
              <a:t>•Install ₹1500–₹2000 GPS device per coach</a:t>
            </a:r>
          </a:p>
          <a:p>
            <a:pPr marL="0" indent="0" defTabSz="1341086">
              <a:spcBef>
                <a:spcPts val="2400"/>
              </a:spcBef>
              <a:buSzTx/>
              <a:buNone/>
              <a:defRPr sz="264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ECURITY ASPECTS"/>
          <p:cNvSpPr txBox="1"/>
          <p:nvPr>
            <p:ph type="title"/>
          </p:nvPr>
        </p:nvSpPr>
        <p:spPr>
          <a:xfrm>
            <a:off x="1206500" y="1079500"/>
            <a:ext cx="21971000" cy="256968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SECURITY ASPECTS</a:t>
            </a:r>
          </a:p>
        </p:txBody>
      </p:sp>
      <p:sp>
        <p:nvSpPr>
          <p:cNvPr id="201" name="Location encryption…"/>
          <p:cNvSpPr txBox="1"/>
          <p:nvPr>
            <p:ph type="body" sz="half" idx="1"/>
          </p:nvPr>
        </p:nvSpPr>
        <p:spPr>
          <a:xfrm>
            <a:off x="1206500" y="3996663"/>
            <a:ext cx="10693184" cy="8507853"/>
          </a:xfrm>
          <a:prstGeom prst="rect">
            <a:avLst/>
          </a:prstGeom>
        </p:spPr>
        <p:txBody>
          <a:bodyPr/>
          <a:lstStyle/>
          <a:p>
            <a:pPr/>
            <a:r>
              <a:t> Location encryption</a:t>
            </a:r>
          </a:p>
          <a:p>
            <a:pPr/>
            <a:r>
              <a:t> Complaint ID hashing</a:t>
            </a:r>
          </a:p>
          <a:p>
            <a:pPr/>
            <a:r>
              <a:t> Role-based access</a:t>
            </a:r>
          </a:p>
          <a:p>
            <a:pPr/>
            <a:r>
              <a:t> Secure offline storage</a:t>
            </a:r>
          </a:p>
          <a:p>
            <a:pPr/>
            <a:r>
              <a:t> Data auto-delete after case closure</a:t>
            </a:r>
          </a:p>
        </p:txBody>
      </p:sp>
      <p:pic>
        <p:nvPicPr>
          <p:cNvPr id="202" name="WhatsApp Image 2026-02-16 at 15.44.21.jpeg" descr="WhatsApp Image 2026-02-16 at 15.44.2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79781" y="3879052"/>
            <a:ext cx="11453882" cy="7635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ONCLUSION"/>
          <p:cNvSpPr txBox="1"/>
          <p:nvPr>
            <p:ph type="title"/>
          </p:nvPr>
        </p:nvSpPr>
        <p:spPr>
          <a:xfrm>
            <a:off x="1206500" y="1079500"/>
            <a:ext cx="21971000" cy="240404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CONCLUSION</a:t>
            </a:r>
          </a:p>
        </p:txBody>
      </p:sp>
      <p:sp>
        <p:nvSpPr>
          <p:cNvPr id="205" name="The GPS-Enabled Lost &amp; Found System enhances passenger safety, transparency, and efficiency within Indian Railways by integrating real-time GPS tracking, offline route maps, and secure digital complaint management. The system ensures accurate location ta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The GPS-Enabled Lost &amp; Found System enhances passenger safety, transparency, and efficiency within Indian Railways by integrating real-time GPS tracking, offline route maps, and secure digital complaint management. The system ensures accurate location tagging, structured resolution processes, and strong data protection through encryption, role-based access, and automatic data deletion. By combining innovation with cost-effective implementation, this solution modernizes the traditional lost-and-found process, improves accountability, and significantly enhances the overall passenger experience.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HANK YOU"/>
          <p:cNvSpPr txBox="1"/>
          <p:nvPr>
            <p:ph type="body" idx="1"/>
          </p:nvPr>
        </p:nvSpPr>
        <p:spPr>
          <a:xfrm>
            <a:off x="1206500" y="1733598"/>
            <a:ext cx="21971000" cy="10770918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None/>
              <a:defRPr sz="26500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